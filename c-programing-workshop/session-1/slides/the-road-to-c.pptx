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17320"/>
            <a:ext cx="10566400" cy="462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096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417320"/>
            <a:ext cx="10566400" cy="462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1948180"/>
            <a:ext cx="5598668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Road to C: From Wires to Words</a:t>
            </a:r>
            <a:endParaRPr lang="en-US" sz="4400" dirty="0"/>
          </a:p>
        </p:txBody>
      </p:sp>
      <p:pic>
        <p:nvPicPr>
          <p:cNvPr id="3" name="Image 0" descr="Wameedh Scientific Club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401820"/>
            <a:ext cx="508000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3200" y="4504690"/>
            <a:ext cx="1791367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553200" y="1016000"/>
            <a:ext cx="4826000" cy="4826000"/>
          </a:xfrm>
          <a:prstGeom prst="roundRect">
            <a:avLst>
              <a:gd name="adj" fmla="val 33684"/>
            </a:avLst>
          </a:prstGeom>
          <a:solidFill>
            <a:srgbClr val="16304D"/>
          </a:solidFill>
          <a:ln/>
        </p:spPr>
      </p:sp>
      <p:pic>
        <p:nvPicPr>
          <p:cNvPr id="6" name="Image 1" descr="C programming language logo">    </p:cNvPr>
          <p:cNvPicPr>
            <a:picLocks noChangeAspect="1"/>
          </p:cNvPicPr>
          <p:nvPr/>
        </p:nvPicPr>
        <p:blipFill>
          <a:blip r:embed="rId2"/>
          <a:srcRect l="-3" r="-3" t="0" b="0"/>
          <a:stretch/>
        </p:blipFill>
        <p:spPr>
          <a:xfrm>
            <a:off x="7315200" y="1603375"/>
            <a:ext cx="3302000" cy="3651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37287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160" y="150368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4160" y="1503680"/>
            <a:ext cx="291941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a Computer?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9150" y="206883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160" y="219964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34160" y="2199640"/>
            <a:ext cx="355053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We Need Computers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9150" y="276479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6160" y="289560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34160" y="2895600"/>
            <a:ext cx="373989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Binary Number System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9150" y="346075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6160" y="359156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34160" y="3591560"/>
            <a:ext cx="2761107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Computer Anatomy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9150" y="415671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6160" y="428752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34160" y="4287520"/>
            <a:ext cx="3780187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Code to Assembly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9150" y="485267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6160" y="498348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34160" y="4983480"/>
            <a:ext cx="278415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a Compiler?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03950" y="137287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0960" y="150368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18960" y="1503680"/>
            <a:ext cx="327574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We Find C Today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03950" y="206883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0960" y="219964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18960" y="2199640"/>
            <a:ext cx="308752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Showing Output: printf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03950" y="276479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0960" y="289560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18960" y="2895600"/>
            <a:ext cx="357139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Datatypes &amp; Placeholders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203950" y="346075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0960" y="359156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18960" y="3591560"/>
            <a:ext cx="243192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Variables &amp; const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203950" y="415671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0960" y="428752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18960" y="4287520"/>
            <a:ext cx="284368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Input: scanf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203950" y="4852670"/>
            <a:ext cx="5168900" cy="581660"/>
          </a:xfrm>
          <a:prstGeom prst="roundRect">
            <a:avLst>
              <a:gd name="adj" fmla="val 2074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0960" y="4983480"/>
            <a:ext cx="4064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18960" y="4983480"/>
            <a:ext cx="290426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Arithmetic Operators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12800" y="6220461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6170"/>
            <a:ext cx="1328738" cy="393700"/>
          </a:xfrm>
          <a:prstGeom prst="roundRect">
            <a:avLst>
              <a:gd name="adj" fmla="val 50000"/>
            </a:avLst>
          </a:prstGeom>
          <a:solidFill>
            <a:srgbClr val="2B6B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49270"/>
            <a:ext cx="10883392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can tell me what a computer actually is?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6220461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Answer: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315720"/>
            <a:ext cx="10883392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machine that processes information according to instructions.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1896111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computer system performs: </a:t>
            </a: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</a:t>
            </a: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</a:t>
            </a:r>
            <a:r>
              <a:rPr lang="en-US" sz="1800" b="1" dirty="0">
                <a:solidFill>
                  <a:srgbClr val="B45F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Processing</a:t>
            </a: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</a:t>
            </a:r>
            <a:r>
              <a:rPr lang="en-US" sz="1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9150" y="2425700"/>
            <a:ext cx="2899807" cy="955040"/>
          </a:xfrm>
          <a:prstGeom prst="roundRect">
            <a:avLst>
              <a:gd name="adj" fmla="val 12633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0760" y="2607311"/>
            <a:ext cx="261268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device(s)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0760" y="2932430"/>
            <a:ext cx="26126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Receive input</a:t>
            </a:r>
            <a:endParaRPr lang="en-US" sz="15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77707" y="2750820"/>
            <a:ext cx="609600" cy="30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46057" y="2425700"/>
            <a:ext cx="2899886" cy="955040"/>
          </a:xfrm>
          <a:prstGeom prst="roundRect">
            <a:avLst>
              <a:gd name="adj" fmla="val 12633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27667" y="2607311"/>
            <a:ext cx="261276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Processor (CPU)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27667" y="2932430"/>
            <a:ext cx="26127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information</a:t>
            </a:r>
            <a:endParaRPr lang="en-US" sz="15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04693" y="2750820"/>
            <a:ext cx="609600" cy="304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473043" y="2425700"/>
            <a:ext cx="2899807" cy="955040"/>
          </a:xfrm>
          <a:prstGeom prst="roundRect">
            <a:avLst>
              <a:gd name="adj" fmla="val 12633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54653" y="2607311"/>
            <a:ext cx="261268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 device(s)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654653" y="2932430"/>
            <a:ext cx="26126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Produce output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12800" y="359029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“Every computer, from your phone to a supercomputer, follows this same logic.”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12800" y="6220461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1085850"/>
            <a:ext cx="627888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We Need Computers?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320289"/>
            <a:ext cx="627888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Humans needed and created computers primarily to automate difficult, time-consuming, and error-prone tasks, particularly complex calculations, and to enhance human capabilities in managing information and solving problems.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4149089"/>
            <a:ext cx="6278880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During World War II, military needs drove early computer development — machines like Colossus and Bombe broke enemy codes, while ENIAC computed artillery trajectories.</a:t>
            </a:r>
            <a:endParaRPr lang="en-US" sz="1800" dirty="0"/>
          </a:p>
        </p:txBody>
      </p:sp>
      <p:pic>
        <p:nvPicPr>
          <p:cNvPr id="5" name="Image 0" descr="A green mechanical calculating machine with a hand crank">    </p:cNvPr>
          <p:cNvPicPr>
            <a:picLocks noChangeAspect="1"/>
          </p:cNvPicPr>
          <p:nvPr/>
        </p:nvPicPr>
        <p:blipFill>
          <a:blip r:embed="rId1"/>
          <a:srcRect l="39" r="39" t="0" b="0"/>
          <a:stretch/>
        </p:blipFill>
        <p:spPr>
          <a:xfrm>
            <a:off x="7315200" y="1704975"/>
            <a:ext cx="4064000" cy="2711450"/>
          </a:xfrm>
          <a:prstGeom prst="roundRect">
            <a:avLst>
              <a:gd name="adj" fmla="val 5621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066857" y="4543425"/>
            <a:ext cx="25606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Mechanical Computer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6220461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83511"/>
            <a:ext cx="1328738" cy="393700"/>
          </a:xfrm>
          <a:prstGeom prst="roundRect">
            <a:avLst>
              <a:gd name="adj" fmla="val 50000"/>
            </a:avLst>
          </a:prstGeom>
          <a:solidFill>
            <a:srgbClr val="2B6B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6611"/>
            <a:ext cx="1137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the binary number system?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6220461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Answer: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31950"/>
            <a:ext cx="62484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Humans use </a:t>
            </a:r>
            <a:r>
              <a:rPr lang="en-US" sz="20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 10</a:t>
            </a:r>
            <a:r>
              <a:rPr lang="en-US" sz="20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because of 10 fingers.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2127250"/>
            <a:ext cx="601726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Machines use </a:t>
            </a:r>
            <a:r>
              <a:rPr lang="en-US" sz="20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 2</a:t>
            </a:r>
            <a:r>
              <a:rPr lang="en-US" sz="20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→ because of two stable states (ON/OFF).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2965450"/>
            <a:ext cx="601726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Binary fits perfectly with electronic switches.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67550" y="1347471"/>
            <a:ext cx="4305300" cy="2245360"/>
          </a:xfrm>
          <a:prstGeom prst="roundRect">
            <a:avLst>
              <a:gd name="adj" fmla="val 6505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25575" y="1605282"/>
            <a:ext cx="98917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/ OFF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199898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5A83A"/>
          </a:solidFill>
          <a:ln/>
        </p:spPr>
      </p:sp>
      <p:sp>
        <p:nvSpPr>
          <p:cNvPr id="9" name="Text 7"/>
          <p:cNvSpPr/>
          <p:nvPr/>
        </p:nvSpPr>
        <p:spPr>
          <a:xfrm>
            <a:off x="7603887" y="2837182"/>
            <a:ext cx="18454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331200" y="199898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8C4D6"/>
          </a:solidFill>
          <a:ln/>
        </p:spPr>
      </p:sp>
      <p:sp>
        <p:nvSpPr>
          <p:cNvPr id="11" name="Text 9"/>
          <p:cNvSpPr/>
          <p:nvPr/>
        </p:nvSpPr>
        <p:spPr>
          <a:xfrm>
            <a:off x="8570833" y="2837182"/>
            <a:ext cx="28265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347200" y="199898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5A83A"/>
          </a:solidFill>
          <a:ln/>
        </p:spPr>
      </p:sp>
      <p:sp>
        <p:nvSpPr>
          <p:cNvPr id="13" name="Text 11"/>
          <p:cNvSpPr/>
          <p:nvPr/>
        </p:nvSpPr>
        <p:spPr>
          <a:xfrm>
            <a:off x="9635887" y="2837182"/>
            <a:ext cx="18454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0363200" y="1998982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8C4D6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2833" y="2837182"/>
            <a:ext cx="28265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2800" y="3827782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Examples (decimal → binary):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9150" y="4382771"/>
            <a:ext cx="2514600" cy="810260"/>
          </a:xfrm>
          <a:prstGeom prst="roundRect">
            <a:avLst>
              <a:gd name="adj" fmla="val 14890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  <p:txBody>
          <a:bodyPr wrap="square" lIns="87840" tIns="120873" rIns="87840" bIns="95473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→ 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98850" y="4382771"/>
            <a:ext cx="2514600" cy="810260"/>
          </a:xfrm>
          <a:prstGeom prst="roundRect">
            <a:avLst>
              <a:gd name="adj" fmla="val 14890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  <p:txBody>
          <a:bodyPr wrap="square" lIns="87840" tIns="120873" rIns="87840" bIns="95473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→ 01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78550" y="4382771"/>
            <a:ext cx="2514600" cy="810260"/>
          </a:xfrm>
          <a:prstGeom prst="roundRect">
            <a:avLst>
              <a:gd name="adj" fmla="val 14890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  <p:txBody>
          <a:bodyPr wrap="square" lIns="87840" tIns="120873" rIns="87840" bIns="95473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→ 11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858250" y="4382771"/>
            <a:ext cx="2514600" cy="810260"/>
          </a:xfrm>
          <a:prstGeom prst="roundRect">
            <a:avLst>
              <a:gd name="adj" fmla="val 14890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  <p:txBody>
          <a:bodyPr wrap="square" lIns="87840" tIns="120873" rIns="87840" bIns="95473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 → 00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12800" y="6220461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66400" y="6220461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Information: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372871"/>
            <a:ext cx="5168900" cy="32131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7760" y="1681482"/>
            <a:ext cx="46882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00"/>
              </a:lnSpc>
              <a:buNone/>
            </a:pPr>
            <a:r>
              <a:rPr lang="en-US" sz="80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127760" y="2926082"/>
            <a:ext cx="4688230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Babylonians:</a:t>
            </a:r>
            <a:r>
              <a:rPr lang="en-US" sz="19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used base 60 (sexagesimal) — that’s why we still have 60 seconds in a minute and 360 degrees in a circle.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03950" y="1372871"/>
            <a:ext cx="5168900" cy="32131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2560" y="1681482"/>
            <a:ext cx="46882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00"/>
              </a:lnSpc>
              <a:buNone/>
            </a:pPr>
            <a:r>
              <a:rPr lang="en-US" sz="8000" b="1" dirty="0">
                <a:solidFill>
                  <a:srgbClr val="B45F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512560" y="2926082"/>
            <a:ext cx="4688230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Mayans:</a:t>
            </a:r>
            <a:r>
              <a:rPr lang="en-US" sz="19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used base 20 (vigesimal) — likely because they counted on fingers and toes.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2800" y="6220464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4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08850" y="1212850"/>
            <a:ext cx="4432300" cy="4432300"/>
          </a:xfrm>
          <a:prstGeom prst="roundRect">
            <a:avLst>
              <a:gd name="adj" fmla="val 36533"/>
            </a:avLst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43850" y="1847850"/>
            <a:ext cx="3162300" cy="31623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8850" y="2482850"/>
            <a:ext cx="1892300" cy="18923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2405379"/>
            <a:ext cx="6540500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Let’s discover together computer anatomy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12800" y="6220464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A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A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83514"/>
            <a:ext cx="1328738" cy="393700"/>
          </a:xfrm>
          <a:prstGeom prst="roundRect">
            <a:avLst>
              <a:gd name="adj" fmla="val 50000"/>
            </a:avLst>
          </a:prstGeom>
          <a:solidFill>
            <a:srgbClr val="2B6B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6614"/>
            <a:ext cx="6776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a program?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6220464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Machine Code to Assembly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341121"/>
            <a:ext cx="61480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Early programming = writing 0s and 1s.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1823721"/>
            <a:ext cx="614807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Assembly introduced symbols easier for humans.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2661921"/>
            <a:ext cx="61480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are low-level and hardware-specific.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2800" y="3144521"/>
            <a:ext cx="5969000" cy="1366520"/>
          </a:xfrm>
          <a:prstGeom prst="roundRect">
            <a:avLst>
              <a:gd name="adj" fmla="val 11152"/>
            </a:avLst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347721"/>
            <a:ext cx="5729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DB3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 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3647442"/>
            <a:ext cx="57294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Machine : 10110000 00000001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003042"/>
            <a:ext cx="572947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Assembly : MOV AL, 01h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94550" y="1347471"/>
            <a:ext cx="4178300" cy="1963420"/>
          </a:xfrm>
          <a:prstGeom prst="roundRect">
            <a:avLst>
              <a:gd name="adj" fmla="val 7439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pic>
        <p:nvPicPr>
          <p:cNvPr id="11" name="Image 0" descr="Rows of zeros and ones representing machine 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58200" y="1503679"/>
            <a:ext cx="1651000" cy="1651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194550" y="3475992"/>
            <a:ext cx="4178300" cy="1963420"/>
          </a:xfrm>
          <a:prstGeom prst="roundRect">
            <a:avLst>
              <a:gd name="adj" fmla="val 7439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pic>
        <p:nvPicPr>
          <p:cNvPr id="13" name="Image 1" descr="ASM hexagon badge for assembly languag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58200" y="3632200"/>
            <a:ext cx="1651000" cy="1651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2800" y="6220464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83514"/>
            <a:ext cx="1328738" cy="393700"/>
          </a:xfrm>
          <a:prstGeom prst="roundRect">
            <a:avLst>
              <a:gd name="adj" fmla="val 50000"/>
            </a:avLst>
          </a:prstGeom>
          <a:solidFill>
            <a:srgbClr val="2B6B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6614"/>
            <a:ext cx="6793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a compiler?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6220464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730500"/>
            <a:ext cx="1905000" cy="139700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1532993" y="2973071"/>
            <a:ext cx="46453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7DB3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27108" y="3582671"/>
            <a:ext cx="1676305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Code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445000" y="1460500"/>
            <a:ext cx="2921000" cy="1270000"/>
          </a:xfrm>
          <a:prstGeom prst="roundRect">
            <a:avLst>
              <a:gd name="adj" fmla="val 50000"/>
            </a:avLst>
          </a:prstGeom>
          <a:solidFill>
            <a:srgbClr val="2B6BD6"/>
          </a:solidFill>
          <a:ln/>
        </p:spPr>
        <p:txBody>
          <a:bodyPr wrap="square" lIns="162630" tIns="0" rIns="16263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Compiler for Computer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45000" y="4127500"/>
            <a:ext cx="2921000" cy="1270000"/>
          </a:xfrm>
          <a:prstGeom prst="roundRect">
            <a:avLst>
              <a:gd name="adj" fmla="val 50000"/>
            </a:avLst>
          </a:prstGeom>
          <a:solidFill>
            <a:srgbClr val="2B6BD6"/>
          </a:solidFill>
          <a:ln/>
        </p:spPr>
        <p:txBody>
          <a:bodyPr wrap="square" lIns="162630" tIns="0" rIns="16263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Compiler for Computer 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02700" y="1473200"/>
            <a:ext cx="2463800" cy="1244600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25400">
            <a:solidFill>
              <a:srgbClr val="2B6BD6"/>
            </a:solidFill>
            <a:prstDash val="solid"/>
          </a:ln>
        </p:spPr>
        <p:txBody>
          <a:bodyPr wrap="square" lIns="144503" tIns="0" rIns="144503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Code for Computer 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02700" y="4140200"/>
            <a:ext cx="2463800" cy="1244600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25400">
            <a:solidFill>
              <a:srgbClr val="2B6BD6"/>
            </a:solidFill>
            <a:prstDash val="solid"/>
          </a:ln>
        </p:spPr>
        <p:txBody>
          <a:bodyPr wrap="square" lIns="144503" tIns="0" rIns="144503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Code for Computer B</a:t>
            </a:r>
            <a:endParaRPr lang="en-US" sz="1800" dirty="0"/>
          </a:p>
        </p:txBody>
      </p:sp>
      <p:pic>
        <p:nvPicPr>
          <p:cNvPr id="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4300" y="2127250"/>
            <a:ext cx="1873250" cy="1111250"/>
          </a:xfrm>
          <a:prstGeom prst="rect">
            <a:avLst/>
          </a:prstGeom>
        </p:spPr>
      </p:pic>
      <p:pic>
        <p:nvPicPr>
          <p:cNvPr id="1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54300" y="3619500"/>
            <a:ext cx="1873250" cy="1111250"/>
          </a:xfrm>
          <a:prstGeom prst="rect">
            <a:avLst/>
          </a:prstGeom>
        </p:spPr>
      </p:pic>
      <p:pic>
        <p:nvPicPr>
          <p:cNvPr id="1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02500" y="2032000"/>
            <a:ext cx="1625600" cy="127000"/>
          </a:xfrm>
          <a:prstGeom prst="rect">
            <a:avLst/>
          </a:prstGeom>
        </p:spPr>
      </p:pic>
      <p:pic>
        <p:nvPicPr>
          <p:cNvPr id="12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02500" y="4699000"/>
            <a:ext cx="1625600" cy="127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2800" y="6220464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We Find C Today?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372871"/>
            <a:ext cx="3373914" cy="354838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pic>
        <p:nvPicPr>
          <p:cNvPr id="4" name="Image 0" descr="Windows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5307" y="1795779"/>
            <a:ext cx="1270000" cy="1270000"/>
          </a:xfrm>
          <a:prstGeom prst="rect">
            <a:avLst/>
          </a:prstGeom>
        </p:spPr>
      </p:pic>
      <p:pic>
        <p:nvPicPr>
          <p:cNvPr id="5" name="Image 1" descr="Linux penguin mascot">    </p:cNvPr>
          <p:cNvPicPr>
            <a:picLocks noChangeAspect="1"/>
          </p:cNvPicPr>
          <p:nvPr/>
        </p:nvPicPr>
        <p:blipFill>
          <a:blip r:embed="rId2"/>
          <a:srcRect l="-88" r="-88" t="0" b="0"/>
          <a:stretch/>
        </p:blipFill>
        <p:spPr>
          <a:xfrm>
            <a:off x="2556907" y="1662429"/>
            <a:ext cx="1270000" cy="1536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3383279"/>
            <a:ext cx="29963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Operating systems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051560" y="3815079"/>
            <a:ext cx="299636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and Linux kernel.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408964" y="1372871"/>
            <a:ext cx="3373993" cy="354838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pic>
        <p:nvPicPr>
          <p:cNvPr id="9" name="Image 2" descr="Diagram of embedded systems in cars, cities, medicine and industry">    </p:cNvPr>
          <p:cNvPicPr>
            <a:picLocks noChangeAspect="1"/>
          </p:cNvPicPr>
          <p:nvPr/>
        </p:nvPicPr>
        <p:blipFill>
          <a:blip r:embed="rId3"/>
          <a:srcRect l="0" r="0" t="-64" b="-64"/>
          <a:stretch/>
        </p:blipFill>
        <p:spPr>
          <a:xfrm>
            <a:off x="5016421" y="1621154"/>
            <a:ext cx="2159000" cy="1619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41374" y="3383279"/>
            <a:ext cx="29964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Embedded System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4641374" y="3815079"/>
            <a:ext cx="299644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Cars, IoT, controllers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998857" y="1372871"/>
            <a:ext cx="3373993" cy="354838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pic>
        <p:nvPicPr>
          <p:cNvPr id="13" name="Image 3" descr="Computer screen with a rocket icon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60314" y="1605279"/>
            <a:ext cx="1651000" cy="1651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31267" y="3383279"/>
            <a:ext cx="299644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High-Performance Systems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8231267" y="4119879"/>
            <a:ext cx="2996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Game engine, compilers, Databases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12800" y="6220464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054864"/>
            <a:ext cx="6540500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Let’s make a small demo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12800" y="3589021"/>
            <a:ext cx="6350000" cy="1010920"/>
          </a:xfrm>
          <a:prstGeom prst="roundRect">
            <a:avLst>
              <a:gd name="adj" fmla="val 12563"/>
            </a:avLst>
          </a:prstGeom>
          <a:solidFill>
            <a:srgbClr val="16304D"/>
          </a:solidFill>
          <a:ln/>
        </p:spPr>
        <p:txBody>
          <a:bodyPr wrap="square" lIns="166003" tIns="166003" rIns="0" bIns="140603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E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Don’t forget to download the C compiler on your machine (windows)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75550" y="2190750"/>
            <a:ext cx="3797300" cy="2273300"/>
          </a:xfrm>
          <a:prstGeom prst="roundRect">
            <a:avLst>
              <a:gd name="adj" fmla="val 6425"/>
            </a:avLst>
          </a:prstGeom>
          <a:solidFill>
            <a:srgbClr val="14253A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07960" y="2397764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049260" y="2397764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8290560" y="2397764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807960" y="2753364"/>
            <a:ext cx="343245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6FA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 _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12800" y="6220464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66400" y="6220464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6177"/>
            <a:ext cx="1328738" cy="393700"/>
          </a:xfrm>
          <a:prstGeom prst="roundRect">
            <a:avLst>
              <a:gd name="adj" fmla="val 50000"/>
            </a:avLst>
          </a:prstGeom>
          <a:solidFill>
            <a:srgbClr val="2B6B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49277"/>
            <a:ext cx="10883392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do we show something on the screen?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printf: Showing Output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56996" y="1341127"/>
            <a:ext cx="5311394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804" indent="-2098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printf is a function from the </a:t>
            </a: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stdio.h</a:t>
            </a: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library. It prints text and values to the screen.</a:t>
            </a:r>
            <a:endParaRPr lang="en-US" sz="1700" dirty="0"/>
          </a:p>
          <a:p>
            <a:pPr algn="l" marL="209804" indent="-2098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 inside the quotes is printed exactly as written.</a:t>
            </a:r>
            <a:endParaRPr lang="en-US" sz="1700" dirty="0"/>
          </a:p>
          <a:p>
            <a:pPr algn="l" marL="209804" indent="-2098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\n</a:t>
            </a: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 the end moves the cursor to the next line.</a:t>
            </a:r>
            <a:endParaRPr lang="en-US" sz="1700" dirty="0"/>
          </a:p>
          <a:p>
            <a:pPr algn="l" marL="209804" indent="-2098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program that uses printf starts with: </a:t>
            </a: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#include &lt;stdio.h&gt;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324600" y="1341127"/>
            <a:ext cx="5054600" cy="2120900"/>
          </a:xfrm>
          <a:prstGeom prst="roundRect">
            <a:avLst>
              <a:gd name="adj" fmla="val 7186"/>
            </a:avLst>
          </a:prstGeom>
          <a:solidFill>
            <a:srgbClr val="0D1B2A"/>
          </a:solidFill>
          <a:ln/>
        </p:spPr>
        <p:txBody>
          <a:bodyPr wrap="none" lIns="158564" tIns="158564" rIns="19118" bIns="133164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&lt;stdio.h&gt;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main() 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"Hello, World!\n"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0;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30950" y="3620777"/>
            <a:ext cx="5041900" cy="965200"/>
          </a:xfrm>
          <a:prstGeom prst="roundRect">
            <a:avLst>
              <a:gd name="adj" fmla="val 1513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0" y="3802385"/>
            <a:ext cx="4766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0" y="4102100"/>
            <a:ext cx="4766716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Hello, World!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76177"/>
            <a:ext cx="1328738" cy="393700"/>
          </a:xfrm>
          <a:prstGeom prst="roundRect">
            <a:avLst>
              <a:gd name="adj" fmla="val 50000"/>
            </a:avLst>
          </a:prstGeom>
          <a:solidFill>
            <a:srgbClr val="2B6B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49277"/>
            <a:ext cx="10883392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kinds of data can a program store?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Four Basic Datatypes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315727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value in C has a datatype. It tells the computer what kind of value it is and how much memory it uses.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9150" y="2129792"/>
            <a:ext cx="2495550" cy="2407920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0760" y="2311400"/>
            <a:ext cx="21963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0760" y="2791458"/>
            <a:ext cx="21963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Whole numbers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0760" y="3182627"/>
            <a:ext cx="2132330" cy="386080"/>
          </a:xfrm>
          <a:prstGeom prst="roundRect">
            <a:avLst>
              <a:gd name="adj" fmla="val 16447"/>
            </a:avLst>
          </a:prstGeom>
          <a:solidFill>
            <a:srgbClr val="EAF0FA"/>
          </a:solidFill>
          <a:ln/>
        </p:spPr>
        <p:txBody>
          <a:bodyPr wrap="none" lIns="70301" tIns="32201" rIns="11666" bIns="68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42, -7, 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0760" y="3657600"/>
            <a:ext cx="2196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 with </a:t>
            </a:r>
            <a:r>
              <a:rPr lang="en-US" sz="16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0760" y="4030985"/>
            <a:ext cx="2132330" cy="325120"/>
          </a:xfrm>
          <a:custGeom>
            <a:avLst/>
            <a:gdLst/>
            <a:ahLst/>
            <a:cxnLst/>
            <a:rect l="l" t="t" r="r" b="b"/>
            <a:pathLst>
              <a:path w="2132330" h="325120">
                <a:moveTo>
                  <a:pt x="162560" y="0"/>
                </a:moveTo>
                <a:lnTo>
                  <a:pt x="1969770" y="0"/>
                </a:lnTo>
                <a:arcTo hR="162560" wR="162560" stAng="16200000" swAng="5400000"/>
                <a:lnTo>
                  <a:pt x="2132330" y="162560"/>
                </a:lnTo>
                <a:arcTo hR="162560" wR="162560" stAng="0" swAng="5400000"/>
                <a:lnTo>
                  <a:pt x="162560" y="325120"/>
                </a:lnTo>
                <a:arcTo hR="162560" wR="162560" stAng="5400000" swAng="5400000"/>
                <a:lnTo>
                  <a:pt x="0" y="162560"/>
                </a:lnTo>
                <a:arcTo hR="162560" wR="162560" stAng="10800000" swAng="5400000"/>
                <a:close/>
              </a:path>
            </a:pathLst>
          </a:custGeom>
          <a:solidFill>
            <a:srgbClr val="E3ECF9"/>
          </a:solidFill>
          <a:ln/>
        </p:spPr>
        <p:txBody>
          <a:bodyPr wrap="square" lIns="101600" tIns="38100" rIns="43726" bIns="127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usually 4 bytes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05200" y="2129792"/>
            <a:ext cx="2495550" cy="2407920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6810" y="2311400"/>
            <a:ext cx="21963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86810" y="2791458"/>
            <a:ext cx="21963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Decimal numbers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86810" y="3182627"/>
            <a:ext cx="2132330" cy="386080"/>
          </a:xfrm>
          <a:prstGeom prst="roundRect">
            <a:avLst>
              <a:gd name="adj" fmla="val 16447"/>
            </a:avLst>
          </a:prstGeom>
          <a:solidFill>
            <a:srgbClr val="EAF0FA"/>
          </a:solidFill>
          <a:ln/>
        </p:spPr>
        <p:txBody>
          <a:bodyPr wrap="none" lIns="70301" tIns="32201" rIns="11666" bIns="68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3.14, -0.5, 2.0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86810" y="3657600"/>
            <a:ext cx="2196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 with </a:t>
            </a:r>
            <a:r>
              <a:rPr lang="en-US" sz="16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86810" y="4030985"/>
            <a:ext cx="2132330" cy="325120"/>
          </a:xfrm>
          <a:custGeom>
            <a:avLst/>
            <a:gdLst/>
            <a:ahLst/>
            <a:cxnLst/>
            <a:rect l="l" t="t" r="r" b="b"/>
            <a:pathLst>
              <a:path w="2132330" h="325120">
                <a:moveTo>
                  <a:pt x="162560" y="0"/>
                </a:moveTo>
                <a:lnTo>
                  <a:pt x="1969770" y="0"/>
                </a:lnTo>
                <a:arcTo hR="162560" wR="162560" stAng="16200000" swAng="5400000"/>
                <a:lnTo>
                  <a:pt x="2132330" y="162560"/>
                </a:lnTo>
                <a:arcTo hR="162560" wR="162560" stAng="0" swAng="5400000"/>
                <a:lnTo>
                  <a:pt x="162560" y="325120"/>
                </a:lnTo>
                <a:arcTo hR="162560" wR="162560" stAng="5400000" swAng="5400000"/>
                <a:lnTo>
                  <a:pt x="0" y="162560"/>
                </a:lnTo>
                <a:arcTo hR="162560" wR="162560" stAng="10800000" swAng="5400000"/>
                <a:close/>
              </a:path>
            </a:pathLst>
          </a:custGeom>
          <a:solidFill>
            <a:srgbClr val="E3ECF9"/>
          </a:solidFill>
          <a:ln/>
        </p:spPr>
        <p:txBody>
          <a:bodyPr wrap="square" lIns="101600" tIns="38100" rIns="43726" bIns="127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usually 4 bytes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1250" y="2129792"/>
            <a:ext cx="2495550" cy="2407920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2860" y="2311400"/>
            <a:ext cx="21963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72860" y="2791458"/>
            <a:ext cx="21963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character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72860" y="3182627"/>
            <a:ext cx="2132330" cy="386080"/>
          </a:xfrm>
          <a:prstGeom prst="roundRect">
            <a:avLst>
              <a:gd name="adj" fmla="val 16447"/>
            </a:avLst>
          </a:prstGeom>
          <a:solidFill>
            <a:srgbClr val="EAF0FA"/>
          </a:solidFill>
          <a:ln/>
        </p:spPr>
        <p:txBody>
          <a:bodyPr wrap="none" lIns="70301" tIns="32201" rIns="11666" bIns="68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'A', 'z', '7'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72860" y="3657600"/>
            <a:ext cx="2196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 with </a:t>
            </a:r>
            <a:r>
              <a:rPr lang="en-US" sz="16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2860" y="4030985"/>
            <a:ext cx="2132330" cy="325120"/>
          </a:xfrm>
          <a:custGeom>
            <a:avLst/>
            <a:gdLst/>
            <a:ahLst/>
            <a:cxnLst/>
            <a:rect l="l" t="t" r="r" b="b"/>
            <a:pathLst>
              <a:path w="2132330" h="325120">
                <a:moveTo>
                  <a:pt x="162560" y="0"/>
                </a:moveTo>
                <a:lnTo>
                  <a:pt x="1969770" y="0"/>
                </a:lnTo>
                <a:arcTo hR="162560" wR="162560" stAng="16200000" swAng="5400000"/>
                <a:lnTo>
                  <a:pt x="2132330" y="162560"/>
                </a:lnTo>
                <a:arcTo hR="162560" wR="162560" stAng="0" swAng="5400000"/>
                <a:lnTo>
                  <a:pt x="162560" y="325120"/>
                </a:lnTo>
                <a:arcTo hR="162560" wR="162560" stAng="5400000" swAng="5400000"/>
                <a:lnTo>
                  <a:pt x="0" y="162560"/>
                </a:lnTo>
                <a:arcTo hR="162560" wR="162560" stAng="10800000" swAng="5400000"/>
                <a:close/>
              </a:path>
            </a:pathLst>
          </a:custGeom>
          <a:solidFill>
            <a:srgbClr val="E3ECF9"/>
          </a:solidFill>
          <a:ln/>
        </p:spPr>
        <p:txBody>
          <a:bodyPr wrap="square" lIns="101600" tIns="38100" rIns="43726" bIns="127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usually 1 byte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77300" y="2129792"/>
            <a:ext cx="2495550" cy="2407920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8910" y="2311400"/>
            <a:ext cx="21963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bool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58910" y="2791458"/>
            <a:ext cx="21963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True or false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058910" y="3182627"/>
            <a:ext cx="2132330" cy="386080"/>
          </a:xfrm>
          <a:prstGeom prst="roundRect">
            <a:avLst>
              <a:gd name="adj" fmla="val 16447"/>
            </a:avLst>
          </a:prstGeom>
          <a:solidFill>
            <a:srgbClr val="EAF0FA"/>
          </a:solidFill>
          <a:ln/>
        </p:spPr>
        <p:txBody>
          <a:bodyPr wrap="none" lIns="70301" tIns="32201" rIns="11666" bIns="68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true, false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58910" y="3657600"/>
            <a:ext cx="2196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 with </a:t>
            </a:r>
            <a:r>
              <a:rPr lang="en-US" sz="16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58910" y="4030985"/>
            <a:ext cx="2132330" cy="325120"/>
          </a:xfrm>
          <a:custGeom>
            <a:avLst/>
            <a:gdLst/>
            <a:ahLst/>
            <a:cxnLst/>
            <a:rect l="l" t="t" r="r" b="b"/>
            <a:pathLst>
              <a:path w="2132330" h="325120">
                <a:moveTo>
                  <a:pt x="162560" y="0"/>
                </a:moveTo>
                <a:lnTo>
                  <a:pt x="1969770" y="0"/>
                </a:lnTo>
                <a:arcTo hR="162560" wR="162560" stAng="16200000" swAng="5400000"/>
                <a:lnTo>
                  <a:pt x="2132330" y="162560"/>
                </a:lnTo>
                <a:arcTo hR="162560" wR="162560" stAng="0" swAng="5400000"/>
                <a:lnTo>
                  <a:pt x="162560" y="325120"/>
                </a:lnTo>
                <a:arcTo hR="162560" wR="162560" stAng="5400000" swAng="5400000"/>
                <a:lnTo>
                  <a:pt x="0" y="162560"/>
                </a:lnTo>
                <a:arcTo hR="162560" wR="162560" stAng="10800000" swAng="5400000"/>
                <a:close/>
              </a:path>
            </a:pathLst>
          </a:custGeom>
          <a:solidFill>
            <a:srgbClr val="E3ECF9"/>
          </a:solidFill>
          <a:ln/>
        </p:spPr>
        <p:txBody>
          <a:bodyPr wrap="square" lIns="101600" tIns="38100" rIns="43726" bIns="127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usually 1 byte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2800" y="4747258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true prints as 1 and false prints as 0. bool needs #include &lt;stdbool.h&gt;. Sizes are typical and can vary.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printf: Placeholders with %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315727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% followed by a letter to mark where a value will be printed. The values are written after the text, in the same order.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9150" y="2129792"/>
            <a:ext cx="2495550" cy="2092960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0760" y="2311400"/>
            <a:ext cx="219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%d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0760" y="2933700"/>
            <a:ext cx="21963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0760" y="3317242"/>
            <a:ext cx="219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Whole numbers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0760" y="3647442"/>
            <a:ext cx="2132330" cy="393700"/>
          </a:xfrm>
          <a:prstGeom prst="roundRect">
            <a:avLst>
              <a:gd name="adj" fmla="val 19355"/>
            </a:avLst>
          </a:prstGeom>
          <a:solidFill>
            <a:srgbClr val="0D1B2A"/>
          </a:solidFill>
          <a:ln/>
        </p:spPr>
        <p:txBody>
          <a:bodyPr wrap="none" lIns="79282" tIns="41182" rIns="21408" bIns="157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prints 42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05200" y="2129792"/>
            <a:ext cx="2495550" cy="2092960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6810" y="2311400"/>
            <a:ext cx="219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%f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86810" y="2933700"/>
            <a:ext cx="21963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86810" y="3317242"/>
            <a:ext cx="219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Decimal numbers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6810" y="3647442"/>
            <a:ext cx="2132330" cy="393700"/>
          </a:xfrm>
          <a:prstGeom prst="roundRect">
            <a:avLst>
              <a:gd name="adj" fmla="val 19355"/>
            </a:avLst>
          </a:prstGeom>
          <a:solidFill>
            <a:srgbClr val="0D1B2A"/>
          </a:solidFill>
          <a:ln/>
        </p:spPr>
        <p:txBody>
          <a:bodyPr wrap="none" lIns="79282" tIns="41182" rIns="21408" bIns="157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prints 3.14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91250" y="2129792"/>
            <a:ext cx="2495550" cy="2092960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2860" y="2311400"/>
            <a:ext cx="219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%c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72860" y="2933700"/>
            <a:ext cx="21963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72860" y="3317242"/>
            <a:ext cx="219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character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72860" y="3647442"/>
            <a:ext cx="2132330" cy="393700"/>
          </a:xfrm>
          <a:prstGeom prst="roundRect">
            <a:avLst>
              <a:gd name="adj" fmla="val 19355"/>
            </a:avLst>
          </a:prstGeom>
          <a:solidFill>
            <a:srgbClr val="0D1B2A"/>
          </a:solidFill>
          <a:ln/>
        </p:spPr>
        <p:txBody>
          <a:bodyPr wrap="none" lIns="79282" tIns="41182" rIns="21408" bIns="157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prints 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877300" y="2129792"/>
            <a:ext cx="2495550" cy="2092960"/>
          </a:xfrm>
          <a:prstGeom prst="roundRect">
            <a:avLst>
              <a:gd name="adj" fmla="val 5765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8910" y="2311400"/>
            <a:ext cx="219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%%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058910" y="2933700"/>
            <a:ext cx="21963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percent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58910" y="3317242"/>
            <a:ext cx="2196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Literal % sign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58910" y="3647442"/>
            <a:ext cx="2132330" cy="393700"/>
          </a:xfrm>
          <a:prstGeom prst="roundRect">
            <a:avLst>
              <a:gd name="adj" fmla="val 19355"/>
            </a:avLst>
          </a:prstGeom>
          <a:solidFill>
            <a:srgbClr val="0D1B2A"/>
          </a:solidFill>
          <a:ln/>
        </p:spPr>
        <p:txBody>
          <a:bodyPr wrap="none" lIns="79282" tIns="41182" rIns="21408" bIns="157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prints 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4432300"/>
            <a:ext cx="10566400" cy="589280"/>
          </a:xfrm>
          <a:prstGeom prst="roundRect">
            <a:avLst>
              <a:gd name="adj" fmla="val 21552"/>
            </a:avLst>
          </a:prstGeom>
          <a:solidFill>
            <a:srgbClr val="DCE9FB"/>
          </a:solidFill>
          <a:ln/>
        </p:spPr>
        <p:txBody>
          <a:bodyPr wrap="square" lIns="166003" tIns="115203" rIns="0" bIns="89803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3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Tip:</a:t>
            </a:r>
            <a:r>
              <a:rPr lang="en-US" sz="1600" dirty="0">
                <a:solidFill>
                  <a:srgbClr val="173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%.2f prints a float with exactly 2 digits after the dot. 3.14159 is printed as 3.14.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 and float: Numbers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347477"/>
            <a:ext cx="5168900" cy="3355340"/>
          </a:xfrm>
          <a:prstGeom prst="roundRect">
            <a:avLst>
              <a:gd name="adj" fmla="val 4353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160" y="1554485"/>
            <a:ext cx="489752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26160" y="2047242"/>
            <a:ext cx="48975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Stores whole numbers. There is no decimal point.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6160" y="2717800"/>
            <a:ext cx="4754880" cy="876300"/>
          </a:xfrm>
          <a:prstGeom prst="roundRect">
            <a:avLst>
              <a:gd name="adj" fmla="val 11594"/>
            </a:avLst>
          </a:prstGeom>
          <a:solidFill>
            <a:srgbClr val="0D1B2A"/>
          </a:solidFill>
          <a:ln/>
        </p:spPr>
        <p:txBody>
          <a:bodyPr wrap="none" lIns="122642" tIns="122642" rIns="0" bIns="972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30);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-5);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0930" y="3695700"/>
            <a:ext cx="482513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decimal part is lost: 3.9 becomes 3 when stored as an int.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 with </a:t>
            </a:r>
            <a:r>
              <a:rPr lang="en-US" sz="15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%d</a:t>
            </a: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3950" y="1347477"/>
            <a:ext cx="5168900" cy="3355340"/>
          </a:xfrm>
          <a:prstGeom prst="roundRect">
            <a:avLst>
              <a:gd name="adj" fmla="val 4353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0960" y="1554485"/>
            <a:ext cx="489752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10960" y="2047242"/>
            <a:ext cx="48975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Stores numbers with a decimal point. It keeps about 7 digits of precision.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0960" y="2717800"/>
            <a:ext cx="4754880" cy="876300"/>
          </a:xfrm>
          <a:prstGeom prst="roundRect">
            <a:avLst>
              <a:gd name="adj" fmla="val 11594"/>
            </a:avLst>
          </a:prstGeom>
          <a:solidFill>
            <a:srgbClr val="0D1B2A"/>
          </a:solidFill>
          <a:ln/>
        </p:spPr>
        <p:txBody>
          <a:bodyPr wrap="none" lIns="122642" tIns="122642" rIns="0" bIns="972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"%f\n"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19.99);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"%f\n"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3.14);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5730" y="3695700"/>
            <a:ext cx="482513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 with </a:t>
            </a:r>
            <a:r>
              <a:rPr lang="en-US" sz="15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%f</a:t>
            </a: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or </a:t>
            </a:r>
            <a:r>
              <a:rPr lang="en-US" sz="15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%.2f</a:t>
            </a: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2 decimals.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float when the value has a fraction.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 and bool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347477"/>
            <a:ext cx="5168900" cy="390779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160" y="1554485"/>
            <a:ext cx="489752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26160" y="2047242"/>
            <a:ext cx="49555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Stores one character, written in single quotes.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6160" y="2433327"/>
            <a:ext cx="4754880" cy="876300"/>
          </a:xfrm>
          <a:prstGeom prst="roundRect">
            <a:avLst>
              <a:gd name="adj" fmla="val 11594"/>
            </a:avLst>
          </a:prstGeom>
          <a:solidFill>
            <a:srgbClr val="0D1B2A"/>
          </a:solidFill>
          <a:ln/>
        </p:spPr>
        <p:txBody>
          <a:bodyPr wrap="none" lIns="122642" tIns="122642" rIns="0" bIns="972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"%c\n"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'A'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"%c\n"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'$'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0930" y="3411227"/>
            <a:ext cx="482513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'A' is a char, but "A" is text, not a char.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Behind the scenes each char is a number. For example, A is 65.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 with </a:t>
            </a:r>
            <a:r>
              <a:rPr lang="en-US" sz="15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%c</a:t>
            </a: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03950" y="1347477"/>
            <a:ext cx="5168900" cy="390779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0960" y="1554485"/>
            <a:ext cx="489752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bool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10960" y="2047242"/>
            <a:ext cx="489752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Stores true or false. It needs the stdbool.h library.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0960" y="2717800"/>
            <a:ext cx="4754880" cy="1162050"/>
          </a:xfrm>
          <a:prstGeom prst="roundRect">
            <a:avLst>
              <a:gd name="adj" fmla="val 8743"/>
            </a:avLst>
          </a:prstGeom>
          <a:solidFill>
            <a:srgbClr val="0D1B2A"/>
          </a:solidFill>
          <a:ln/>
        </p:spPr>
        <p:txBody>
          <a:bodyPr wrap="none" lIns="122642" tIns="122642" rIns="0" bIns="972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&lt;stdbool.h&gt;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true);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false);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5730" y="3981450"/>
            <a:ext cx="482513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true is stored as 1 and false as 0.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 with </a:t>
            </a:r>
            <a:r>
              <a:rPr lang="en-US" sz="15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%d</a:t>
            </a: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to see 1 or 0.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Used for yes or no questions, like "did the student pass?"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83508"/>
            <a:ext cx="1328738" cy="393700"/>
          </a:xfrm>
          <a:prstGeom prst="roundRect">
            <a:avLst>
              <a:gd name="adj" fmla="val 50000"/>
            </a:avLst>
          </a:prstGeom>
          <a:solidFill>
            <a:srgbClr val="2B6B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6608"/>
            <a:ext cx="1137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do we keep a value to use later?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Variables: A Named Container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33227"/>
            <a:ext cx="544169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variable is a named box in memory. It has two parts: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6996" y="2425700"/>
            <a:ext cx="53898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804" indent="-209804">
              <a:lnSpc>
                <a:spcPts val="2380"/>
              </a:lnSpc>
              <a:buSzPct val="100000"/>
              <a:buChar char="•"/>
            </a:pP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the label used to find the box, like </a:t>
            </a: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</a:t>
            </a:r>
            <a:endParaRPr lang="en-US" sz="1700" dirty="0"/>
          </a:p>
          <a:p>
            <a:pPr algn="l" marL="209804" indent="-209804">
              <a:lnSpc>
                <a:spcPts val="2380"/>
              </a:lnSpc>
              <a:buSzPct val="100000"/>
              <a:buChar char="•"/>
            </a:pP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</a:t>
            </a: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what is stored inside the box, like </a:t>
            </a: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182627"/>
            <a:ext cx="544169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value can be changed at any time. The name stays the same.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11925" y="1376052"/>
            <a:ext cx="1758950" cy="1611630"/>
          </a:xfrm>
          <a:prstGeom prst="roundRect">
            <a:avLst>
              <a:gd name="adj" fmla="val 8865"/>
            </a:avLst>
          </a:prstGeom>
          <a:solidFill>
            <a:srgbClr val="FFFFFF"/>
          </a:solidFill>
          <a:ln w="19050">
            <a:solidFill>
              <a:srgbClr val="2B6B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13099" y="1559558"/>
            <a:ext cx="756523" cy="360680"/>
          </a:xfrm>
          <a:custGeom>
            <a:avLst/>
            <a:gdLst/>
            <a:ahLst/>
            <a:cxnLst/>
            <a:rect l="l" t="t" r="r" b="b"/>
            <a:pathLst>
              <a:path w="756523" h="360680">
                <a:moveTo>
                  <a:pt x="180340" y="0"/>
                </a:moveTo>
                <a:lnTo>
                  <a:pt x="576183" y="0"/>
                </a:lnTo>
                <a:arcTo hR="180340" wR="180340" stAng="16200000" swAng="5400000"/>
                <a:lnTo>
                  <a:pt x="756523" y="180340"/>
                </a:lnTo>
                <a:arcTo hR="180340" wR="180340" stAng="0" swAng="5400000"/>
                <a:lnTo>
                  <a:pt x="180340" y="360680"/>
                </a:lnTo>
                <a:arcTo hR="180340" wR="180340" stAng="5400000" swAng="5400000"/>
                <a:lnTo>
                  <a:pt x="0" y="180340"/>
                </a:lnTo>
                <a:arcTo hR="180340" wR="180340" stAng="10800000" swAng="5400000"/>
                <a:close/>
              </a:path>
            </a:pathLst>
          </a:custGeom>
          <a:solidFill>
            <a:srgbClr val="2B6B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69438" y="2021842"/>
            <a:ext cx="1043845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519775" y="3098800"/>
            <a:ext cx="1743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before: age = 20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29042" y="2029458"/>
            <a:ext cx="823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</a:t>
            </a:r>
            <a:endParaRPr lang="en-US" sz="1400" dirty="0"/>
          </a:p>
        </p:txBody>
      </p:sp>
      <p:pic>
        <p:nvPicPr>
          <p:cNvPr id="1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59800" y="2329185"/>
            <a:ext cx="762000" cy="355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610725" y="1376052"/>
            <a:ext cx="1758950" cy="1611630"/>
          </a:xfrm>
          <a:prstGeom prst="roundRect">
            <a:avLst>
              <a:gd name="adj" fmla="val 8865"/>
            </a:avLst>
          </a:prstGeom>
          <a:solidFill>
            <a:srgbClr val="FFFFFF"/>
          </a:solidFill>
          <a:ln w="19050">
            <a:solidFill>
              <a:srgbClr val="2B6B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11899" y="1559558"/>
            <a:ext cx="756523" cy="360680"/>
          </a:xfrm>
          <a:custGeom>
            <a:avLst/>
            <a:gdLst/>
            <a:ahLst/>
            <a:cxnLst/>
            <a:rect l="l" t="t" r="r" b="b"/>
            <a:pathLst>
              <a:path w="756523" h="360680">
                <a:moveTo>
                  <a:pt x="180340" y="0"/>
                </a:moveTo>
                <a:lnTo>
                  <a:pt x="576183" y="0"/>
                </a:lnTo>
                <a:arcTo hR="180340" wR="180340" stAng="16200000" swAng="5400000"/>
                <a:lnTo>
                  <a:pt x="756523" y="180340"/>
                </a:lnTo>
                <a:arcTo hR="180340" wR="180340" stAng="0" swAng="5400000"/>
                <a:lnTo>
                  <a:pt x="180340" y="360680"/>
                </a:lnTo>
                <a:arcTo hR="180340" wR="180340" stAng="5400000" swAng="5400000"/>
                <a:lnTo>
                  <a:pt x="0" y="180340"/>
                </a:lnTo>
                <a:arcTo hR="180340" wR="180340" stAng="10800000" swAng="5400000"/>
                <a:close/>
              </a:path>
            </a:pathLst>
          </a:custGeom>
          <a:solidFill>
            <a:srgbClr val="2B6B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86054" y="2021842"/>
            <a:ext cx="80829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5600" dirty="0"/>
          </a:p>
        </p:txBody>
      </p:sp>
      <p:sp>
        <p:nvSpPr>
          <p:cNvPr id="15" name="Text 12"/>
          <p:cNvSpPr/>
          <p:nvPr/>
        </p:nvSpPr>
        <p:spPr>
          <a:xfrm>
            <a:off x="9747059" y="3098800"/>
            <a:ext cx="14862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after: age = 21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02400" y="3550927"/>
            <a:ext cx="4876800" cy="538480"/>
          </a:xfrm>
          <a:prstGeom prst="roundRect">
            <a:avLst>
              <a:gd name="adj" fmla="val 23585"/>
            </a:avLst>
          </a:prstGeom>
          <a:solidFill>
            <a:srgbClr val="DCE9FB"/>
          </a:solidFill>
          <a:ln/>
        </p:spPr>
        <p:txBody>
          <a:bodyPr wrap="square" lIns="72785" tIns="89803" rIns="72785" bIns="64403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3F8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label stays. The content can change.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Declare, Assign and Change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341127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Syntax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2800" y="1709427"/>
            <a:ext cx="4826000" cy="624840"/>
          </a:xfrm>
          <a:prstGeom prst="roundRect">
            <a:avLst>
              <a:gd name="adj" fmla="val 16260"/>
            </a:avLst>
          </a:prstGeom>
          <a:solidFill>
            <a:srgbClr val="0D1B2A"/>
          </a:solidFill>
          <a:ln/>
        </p:spPr>
        <p:txBody>
          <a:bodyPr wrap="none" lIns="122642" tIns="122642" rIns="0" bIns="972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datatype name = value;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435858"/>
            <a:ext cx="497078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can also declare first and give a value later: int age; then age = 20;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035300"/>
            <a:ext cx="49707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Naming rules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570" y="3403600"/>
            <a:ext cx="489839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Letters, digits and _ only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Cannot start with a digit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spaces. Use student_age or studentAge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Case-sensitive: Age and age are different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Cannot be a keyword like 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0" y="1341127"/>
            <a:ext cx="5435600" cy="2590800"/>
          </a:xfrm>
          <a:prstGeom prst="roundRect">
            <a:avLst>
              <a:gd name="adj" fmla="val 5882"/>
            </a:avLst>
          </a:prstGeom>
          <a:solidFill>
            <a:srgbClr val="0D1B2A"/>
          </a:solidFill>
          <a:ln/>
        </p:spPr>
        <p:txBody>
          <a:bodyPr wrap="none" lIns="158564" tIns="107764" rIns="7688" bIns="82364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&lt;stdio.h&gt;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main() 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age = 20;   </a:t>
            </a:r>
            <a:r>
              <a:rPr lang="en-US" sz="1500" dirty="0">
                <a:solidFill>
                  <a:srgbClr val="8EA3B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declare and assign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age);   </a:t>
            </a:r>
            <a:r>
              <a:rPr lang="en-US" sz="1500" dirty="0">
                <a:solidFill>
                  <a:srgbClr val="8EA3B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prints 20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age = 21;   </a:t>
            </a:r>
            <a:r>
              <a:rPr lang="en-US" sz="1500" dirty="0">
                <a:solidFill>
                  <a:srgbClr val="8EA3B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change the value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age);   </a:t>
            </a:r>
            <a:r>
              <a:rPr lang="en-US" sz="1500" dirty="0">
                <a:solidFill>
                  <a:srgbClr val="8EA3B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prints 21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0;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9950" y="4065277"/>
            <a:ext cx="5422900" cy="1221740"/>
          </a:xfrm>
          <a:prstGeom prst="roundRect">
            <a:avLst>
              <a:gd name="adj" fmla="val 11954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6960" y="4221485"/>
            <a:ext cx="51591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56960" y="4521200"/>
            <a:ext cx="515914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printf: Mixing Text and Values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341127"/>
            <a:ext cx="6096000" cy="3784600"/>
          </a:xfrm>
          <a:prstGeom prst="roundRect">
            <a:avLst>
              <a:gd name="adj" fmla="val 4027"/>
            </a:avLst>
          </a:prstGeom>
          <a:solidFill>
            <a:srgbClr val="0D1B2A"/>
          </a:solidFill>
          <a:ln/>
        </p:spPr>
        <p:txBody>
          <a:bodyPr wrap="none" lIns="158564" tIns="133164" rIns="0" bIns="107764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&lt;stdio.h&gt;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main() 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age = 20;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height = 1.75;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char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grade = 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'A'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"Age: %d\n"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age);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"Height: %.2f\n"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height);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"Grade: %c\n"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grade);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5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0;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19950" y="1347477"/>
            <a:ext cx="4152900" cy="1526540"/>
          </a:xfrm>
          <a:prstGeom prst="roundRect">
            <a:avLst>
              <a:gd name="adj" fmla="val 9567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26960" y="1503685"/>
            <a:ext cx="3851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26960" y="1803400"/>
            <a:ext cx="3851046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Age: 20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Height: 1.75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Grade: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71258" y="3032758"/>
            <a:ext cx="4225290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% is replaced by a value, in order.</a:t>
            </a:r>
            <a:endParaRPr lang="en-US" sz="1600" dirty="0"/>
          </a:p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%d for int, %f for float and %c for char.</a:t>
            </a:r>
            <a:endParaRPr lang="en-US" sz="1600" dirty="0"/>
          </a:p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%.2f limits a float to 2 digits after the dot.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const: A Value That Cannot Change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341127"/>
            <a:ext cx="5101590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Adding </a:t>
            </a:r>
            <a:r>
              <a:rPr lang="en-US" sz="17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</a:t>
            </a: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before the datatype makes a variable read-only. Once it has a value, it can never change.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70458" y="2400300"/>
            <a:ext cx="5036312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const must get its value when it is created.</a:t>
            </a:r>
            <a:endParaRPr lang="en-US" sz="1600" dirty="0"/>
          </a:p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the program tries to change it, the compiler stops with an error.</a:t>
            </a:r>
            <a:endParaRPr lang="en-US" sz="1600" dirty="0"/>
          </a:p>
          <a:p>
            <a:pPr algn="l" marL="196342" indent="-1963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it for values that never change, like PI or a maximum score.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70600" y="1341127"/>
            <a:ext cx="546785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 variable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70600" y="1676400"/>
            <a:ext cx="5308600" cy="965200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/>
        </p:spPr>
        <p:txBody>
          <a:bodyPr wrap="none" lIns="148042" tIns="148042" rIns="0" bIns="1226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score = 10;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score = 11;   </a:t>
            </a:r>
            <a:r>
              <a:rPr lang="en-US" sz="1600" dirty="0">
                <a:solidFill>
                  <a:srgbClr val="8EA3B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allowed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70600" y="2794000"/>
            <a:ext cx="546785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F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 variable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70600" y="3129285"/>
            <a:ext cx="5308600" cy="965200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/>
        </p:spPr>
        <p:txBody>
          <a:bodyPr wrap="none" lIns="148042" tIns="148042" rIns="0" bIns="12264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int</a:t>
            </a: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score = 10;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score = 11;   </a:t>
            </a:r>
            <a:r>
              <a:rPr lang="en-US" sz="16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error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const: Examples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341127"/>
            <a:ext cx="6731000" cy="3771900"/>
          </a:xfrm>
          <a:prstGeom prst="roundRect">
            <a:avLst>
              <a:gd name="adj" fmla="val 4040"/>
            </a:avLst>
          </a:prstGeom>
          <a:solidFill>
            <a:srgbClr val="0D1B2A"/>
          </a:solidFill>
          <a:ln/>
        </p:spPr>
        <p:txBody>
          <a:bodyPr wrap="none" lIns="133164" tIns="107764" rIns="0" bIns="82364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&lt;stdio.h&gt;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float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PI = 3.14;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int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MAX_STUDENTS = 30;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main()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radius = 2.0;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area = PI * radius * radius;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</a:t>
            </a:r>
            <a:r>
              <a:rPr lang="en-US" sz="14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"Area: %.2f\n"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area);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</a:t>
            </a:r>
            <a:r>
              <a:rPr lang="en-US" sz="14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"Max: %d\n"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MAX_STUDENTS);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8EA3B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MAX_STUDENTS = 40;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ERROR: cannot change a const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0;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804150" y="1347477"/>
            <a:ext cx="3568700" cy="1221740"/>
          </a:xfrm>
          <a:prstGeom prst="roundRect">
            <a:avLst>
              <a:gd name="adj" fmla="val 11954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85760" y="1503685"/>
            <a:ext cx="3301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85760" y="1803400"/>
            <a:ext cx="3301645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Area: 12.56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Max: 30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04150" y="2734308"/>
            <a:ext cx="3568700" cy="1729740"/>
          </a:xfrm>
          <a:prstGeom prst="roundRect">
            <a:avLst>
              <a:gd name="adj" fmla="val 8443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85760" y="2890527"/>
            <a:ext cx="330164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use const?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50530" y="3241042"/>
            <a:ext cx="32292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Protects values from accidental changes.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Easy to update in one place.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Makes the code easier to read.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83508"/>
            <a:ext cx="1328738" cy="393700"/>
          </a:xfrm>
          <a:prstGeom prst="roundRect">
            <a:avLst>
              <a:gd name="adj" fmla="val 50000"/>
            </a:avLst>
          </a:prstGeom>
          <a:solidFill>
            <a:srgbClr val="2B6B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6608"/>
            <a:ext cx="1137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can the user give us a value?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scanf: Reading Input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341127"/>
            <a:ext cx="510159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scanf reads what the user types on the keyboard and stores it in a variable.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2047242"/>
            <a:ext cx="51015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Syntax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415542"/>
            <a:ext cx="4953000" cy="589280"/>
          </a:xfrm>
          <a:prstGeom prst="roundRect">
            <a:avLst>
              <a:gd name="adj" fmla="val 17241"/>
            </a:avLst>
          </a:prstGeom>
          <a:solidFill>
            <a:srgbClr val="0D1B2A"/>
          </a:solidFill>
          <a:ln/>
        </p:spPr>
        <p:txBody>
          <a:bodyPr wrap="none" lIns="122642" tIns="122642" rIns="0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scanf(</a:t>
            </a:r>
            <a:r>
              <a:rPr lang="en-US" sz="16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"format"</a:t>
            </a: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&amp;variable);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7570" y="3106427"/>
            <a:ext cx="5029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format works like printf: %d, %f or %c.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&amp; (address of) tells scanf where to store the value.</a:t>
            </a:r>
            <a:endParaRPr lang="en-US" sz="1500" dirty="0"/>
          </a:p>
          <a:p>
            <a:pPr algn="l" marL="189230" indent="-18923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Needs #include &lt;stdio.h&gt;, like printf.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70600" y="1341127"/>
            <a:ext cx="5308600" cy="2705100"/>
          </a:xfrm>
          <a:prstGeom prst="roundRect">
            <a:avLst>
              <a:gd name="adj" fmla="val 5634"/>
            </a:avLst>
          </a:prstGeom>
          <a:solidFill>
            <a:srgbClr val="0D1B2A"/>
          </a:solidFill>
          <a:ln/>
        </p:spPr>
        <p:txBody>
          <a:bodyPr wrap="none" lIns="158564" tIns="107764" rIns="11498" bIns="82364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&lt;stdio.h&gt;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main()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age;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</a:t>
            </a:r>
            <a:r>
              <a:rPr lang="en-US" sz="14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"Enter your age: "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scanf(</a:t>
            </a:r>
            <a:r>
              <a:rPr lang="en-US" sz="14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"%d"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&amp;age);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</a:t>
            </a:r>
            <a:r>
              <a:rPr lang="en-US" sz="14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"You are %d years old\n"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age);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0;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76950" y="4179577"/>
            <a:ext cx="5295900" cy="141478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83960" y="4310385"/>
            <a:ext cx="502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Sample run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83960" y="4610100"/>
            <a:ext cx="5028336" cy="596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Enter your age: 20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You are 20 years old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83960" y="5232400"/>
            <a:ext cx="502833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user types 20 and presses Enter.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20458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66400" y="6220458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scanf with Each Datatype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322077"/>
            <a:ext cx="10553700" cy="914400"/>
          </a:xfrm>
          <a:prstGeom prst="roundRect">
            <a:avLst>
              <a:gd name="adj" fmla="val 13194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6160" y="1452885"/>
            <a:ext cx="1447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6160" y="185674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whole numbers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26360" y="1525277"/>
            <a:ext cx="3810000" cy="508000"/>
          </a:xfrm>
          <a:prstGeom prst="roundRect">
            <a:avLst>
              <a:gd name="adj" fmla="val 17500"/>
            </a:avLst>
          </a:prstGeom>
          <a:solidFill>
            <a:srgbClr val="0D1B2A"/>
          </a:solidFill>
          <a:ln/>
        </p:spPr>
        <p:txBody>
          <a:bodyPr wrap="none" lIns="126362" tIns="75562" rIns="21206" bIns="5016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scanf(</a:t>
            </a:r>
            <a:r>
              <a:rPr lang="en-US" sz="16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"%d"</a:t>
            </a: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&amp;students);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39560" y="1654808"/>
            <a:ext cx="4662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</a:t>
            </a:r>
            <a:r>
              <a:rPr lang="en-US" sz="14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%d</a:t>
            </a:r>
            <a:r>
              <a:rPr lang="en-US" sz="14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int values.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9150" y="2350765"/>
            <a:ext cx="10553700" cy="1163320"/>
          </a:xfrm>
          <a:prstGeom prst="roundRect">
            <a:avLst>
              <a:gd name="adj" fmla="val 10371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6160" y="2481585"/>
            <a:ext cx="1447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6160" y="2885455"/>
            <a:ext cx="1447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decimal numbers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26360" y="2678435"/>
            <a:ext cx="3810000" cy="508000"/>
          </a:xfrm>
          <a:prstGeom prst="roundRect">
            <a:avLst>
              <a:gd name="adj" fmla="val 17500"/>
            </a:avLst>
          </a:prstGeom>
          <a:solidFill>
            <a:srgbClr val="0D1B2A"/>
          </a:solidFill>
          <a:ln/>
        </p:spPr>
        <p:txBody>
          <a:bodyPr wrap="none" lIns="126362" tIns="75562" rIns="21206" bIns="5016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scanf(</a:t>
            </a:r>
            <a:r>
              <a:rPr lang="en-US" sz="16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"%f"</a:t>
            </a: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&amp;price);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39560" y="2807965"/>
            <a:ext cx="4662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</a:t>
            </a:r>
            <a:r>
              <a:rPr lang="en-US" sz="1400" b="1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%f</a:t>
            </a:r>
            <a:r>
              <a:rPr lang="en-US" sz="14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for float values.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9150" y="3628405"/>
            <a:ext cx="10553700" cy="914400"/>
          </a:xfrm>
          <a:prstGeom prst="roundRect">
            <a:avLst>
              <a:gd name="adj" fmla="val 13194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6160" y="3759200"/>
            <a:ext cx="1447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6160" y="416307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character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26360" y="3831605"/>
            <a:ext cx="3810000" cy="508000"/>
          </a:xfrm>
          <a:prstGeom prst="roundRect">
            <a:avLst>
              <a:gd name="adj" fmla="val 17500"/>
            </a:avLst>
          </a:prstGeom>
          <a:solidFill>
            <a:srgbClr val="0D1B2A"/>
          </a:solidFill>
          <a:ln/>
        </p:spPr>
        <p:txBody>
          <a:bodyPr wrap="none" lIns="126362" tIns="75562" rIns="21206" bIns="5016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scanf(</a:t>
            </a:r>
            <a:r>
              <a:rPr lang="en-US" sz="16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 %c"</a:t>
            </a: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&amp;grade);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39560" y="3836665"/>
            <a:ext cx="46620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space before %c skips the Enter key left over from the last input.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9150" y="4657105"/>
            <a:ext cx="10553700" cy="1074420"/>
          </a:xfrm>
          <a:prstGeom prst="roundRect">
            <a:avLst>
              <a:gd name="adj" fmla="val 11229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6160" y="4867920"/>
            <a:ext cx="1447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B6B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bool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26160" y="5271765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true or false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26360" y="4787900"/>
            <a:ext cx="3810000" cy="812800"/>
          </a:xfrm>
          <a:prstGeom prst="roundRect">
            <a:avLst>
              <a:gd name="adj" fmla="val 10938"/>
            </a:avLst>
          </a:prstGeom>
          <a:solidFill>
            <a:srgbClr val="0D1B2A"/>
          </a:solidFill>
          <a:ln/>
        </p:spPr>
        <p:txBody>
          <a:bodyPr wrap="none" lIns="126362" tIns="75562" rIns="21206" bIns="50162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scanf(</a:t>
            </a:r>
            <a:r>
              <a:rPr lang="en-US" sz="16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"%d"</a:t>
            </a: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&amp;answer);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passed = answer;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39560" y="4945385"/>
            <a:ext cx="46620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scanf cannot store into a bool directly. Read a 1 or 0 into an int, then copy it into the bool.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20470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66400" y="6220470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40640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061715"/>
            <a:ext cx="3924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program that reads all four datatypes. Each scanf stores its value in a variable.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91032" y="2014215"/>
            <a:ext cx="3838448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space in " %c" skips the Enter key left over from the previous input.</a:t>
            </a:r>
            <a:endParaRPr lang="en-US" sz="1400" dirty="0"/>
          </a:p>
          <a:p>
            <a:pPr algn="l" marL="175768" indent="-17576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bool is read as an int, then copied into the bool.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3168650"/>
            <a:ext cx="3797300" cy="1758315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12700">
            <a:solidFill>
              <a:srgbClr val="D5DE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0760" y="3299470"/>
            <a:ext cx="3537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6BD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Sample run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0760" y="3599185"/>
            <a:ext cx="3537102" cy="1222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Age: 20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Height: 1.75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Grade: A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Passed (1 or 0): 1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 1.75 A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27600" y="406400"/>
            <a:ext cx="6451600" cy="5753100"/>
          </a:xfrm>
          <a:prstGeom prst="roundRect">
            <a:avLst>
              <a:gd name="adj" fmla="val 2649"/>
            </a:avLst>
          </a:prstGeom>
          <a:solidFill>
            <a:srgbClr val="0D1B2A"/>
          </a:solidFill>
          <a:ln/>
        </p:spPr>
        <p:txBody>
          <a:bodyPr wrap="none" lIns="133164" tIns="107764" rIns="0" bIns="107764" rtlCol="0" anchor="t">
            <a:normAutofit/>
          </a:bodyPr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&lt;stdio.h&gt;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&lt;stdbool.h&gt;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main() {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5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age;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5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height;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5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char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grade;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5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answer;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5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bool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passed;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printf(</a:t>
            </a:r>
            <a:r>
              <a:rPr lang="en-US" sz="135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"Age: "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scanf(</a:t>
            </a:r>
            <a:r>
              <a:rPr lang="en-US" sz="135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"%d"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&amp;age);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printf(</a:t>
            </a:r>
            <a:r>
              <a:rPr lang="en-US" sz="135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"Height: "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scanf(</a:t>
            </a:r>
            <a:r>
              <a:rPr lang="en-US" sz="135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"%f"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&amp;height);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printf(</a:t>
            </a:r>
            <a:r>
              <a:rPr lang="en-US" sz="135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"Grade: "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scanf(</a:t>
            </a:r>
            <a:r>
              <a:rPr lang="en-US" sz="135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 %c"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&amp;grade);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printf(</a:t>
            </a:r>
            <a:r>
              <a:rPr lang="en-US" sz="135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"Passed (1 or 0): "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scanf(</a:t>
            </a:r>
            <a:r>
              <a:rPr lang="en-US" sz="135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"%d"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&amp;answer);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passed = answer;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printf(</a:t>
            </a:r>
            <a:r>
              <a:rPr lang="en-US" sz="135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 %.2f %c %d\n"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age, height, grade, passed);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50" dirty="0">
                <a:solidFill>
                  <a:srgbClr val="7D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0;</a:t>
            </a:r>
            <a:endParaRPr lang="en-US" sz="1350" dirty="0"/>
          </a:p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2800" y="6220470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66400" y="6220470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83520"/>
            <a:ext cx="1328738" cy="393700"/>
          </a:xfrm>
          <a:prstGeom prst="roundRect">
            <a:avLst>
              <a:gd name="adj" fmla="val 50000"/>
            </a:avLst>
          </a:prstGeom>
          <a:solidFill>
            <a:srgbClr val="2B6BD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356620"/>
            <a:ext cx="99605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can we do with values?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6220470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66400" y="6220470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FB2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4572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Arithmetic Operators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137915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346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Given a = 10 and b = 3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10360"/>
          <a:ext cx="10556240" cy="2941320"/>
        </p:xfrm>
        <a:graphic>
          <a:graphicData uri="http://schemas.openxmlformats.org/drawingml/2006/table">
            <a:tbl>
              <a:tblPr/>
              <a:tblGrid>
                <a:gridCol w="1583436"/>
                <a:gridCol w="4222496"/>
                <a:gridCol w="2639060"/>
                <a:gridCol w="2111248"/>
              </a:tblGrid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Operator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Name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Example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Result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6EA"/>
                    </a:solidFill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6BD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+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Addition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 + b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13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8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6BD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-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Subtraction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 - b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6BD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*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Multiplication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 * b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30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6BD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/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Division (whole numbers)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 / b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B6BD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%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Remainder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 % b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D1B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</a:t>
                      </a:r>
                      <a:endParaRPr lang="en-US" sz="18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6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729485"/>
            <a:ext cx="5461000" cy="876300"/>
          </a:xfrm>
          <a:prstGeom prst="roundRect">
            <a:avLst>
              <a:gd name="adj" fmla="val 14493"/>
            </a:avLst>
          </a:prstGeom>
          <a:solidFill>
            <a:srgbClr val="0D1B2A"/>
          </a:solidFill>
          <a:ln/>
        </p:spPr>
        <p:txBody>
          <a:bodyPr wrap="none" lIns="166003" tIns="115203" rIns="14365" bIns="89803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a / b);   </a:t>
            </a:r>
            <a:r>
              <a:rPr lang="en-US" sz="1500" dirty="0">
                <a:solidFill>
                  <a:srgbClr val="8EA3B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3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</a:t>
            </a:r>
            <a:r>
              <a:rPr lang="en-US" sz="1500" dirty="0">
                <a:solidFill>
                  <a:srgbClr val="F5B14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"%d\n"</a:t>
            </a:r>
            <a:r>
              <a:rPr lang="en-US" sz="1500" dirty="0">
                <a:solidFill>
                  <a:srgbClr val="E8EEF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a % b);   </a:t>
            </a:r>
            <a:r>
              <a:rPr lang="en-US" sz="1500" dirty="0">
                <a:solidFill>
                  <a:srgbClr val="8EA3B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53200" y="4767585"/>
            <a:ext cx="497078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D1B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Division of two int values drops the decimal part. 10 / 3 gives 3, not 3.33. For decimals, use a float: 10.0 / 3 gives 3.33.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6220470"/>
            <a:ext cx="39243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66400" y="6220470"/>
            <a:ext cx="812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162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255515"/>
            <a:ext cx="5598668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 for your attention!</a:t>
            </a:r>
            <a:endParaRPr lang="en-US" sz="4400" dirty="0"/>
          </a:p>
        </p:txBody>
      </p:sp>
      <p:pic>
        <p:nvPicPr>
          <p:cNvPr id="3" name="Image 0" descr="Wameedh Scientific Club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4094485"/>
            <a:ext cx="508000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3200" y="4197350"/>
            <a:ext cx="1791367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2F6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Wameedh SC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553200" y="1016000"/>
            <a:ext cx="4826000" cy="4826000"/>
          </a:xfrm>
          <a:prstGeom prst="roundRect">
            <a:avLst>
              <a:gd name="adj" fmla="val 33684"/>
            </a:avLst>
          </a:prstGeom>
          <a:solidFill>
            <a:srgbClr val="16304D"/>
          </a:solidFill>
          <a:ln/>
        </p:spPr>
      </p:sp>
      <p:pic>
        <p:nvPicPr>
          <p:cNvPr id="6" name="Image 1" descr="C programming language logo">    </p:cNvPr>
          <p:cNvPicPr>
            <a:picLocks noChangeAspect="1"/>
          </p:cNvPicPr>
          <p:nvPr/>
        </p:nvPicPr>
        <p:blipFill>
          <a:blip r:embed="rId2"/>
          <a:srcRect l="-3" r="-3" t="0" b="0"/>
          <a:stretch/>
        </p:blipFill>
        <p:spPr>
          <a:xfrm>
            <a:off x="7315200" y="1603375"/>
            <a:ext cx="3302000" cy="3651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 Road to C: From Wires to Words">
  <a:themeElements>
    <a:clrScheme name="The Road to C: From Wires to Words">
      <a:dk1>
        <a:srgbClr val="0D1B2A"/>
      </a:dk1>
      <a:lt1>
        <a:srgbClr val="F4F8FD"/>
      </a:lt1>
      <a:dk2>
        <a:srgbClr val="47525F"/>
      </a:dk2>
      <a:lt2>
        <a:srgbClr val="DDE2E8"/>
      </a:lt2>
      <a:accent1>
        <a:srgbClr val="2B6BD6"/>
      </a:accent1>
      <a:accent2>
        <a:srgbClr val="51627A"/>
      </a:accent2>
      <a:accent3>
        <a:srgbClr val="9FB2CC"/>
      </a:accent3>
      <a:accent4>
        <a:srgbClr val="33465F"/>
      </a:accent4>
      <a:accent5>
        <a:srgbClr val="F5B14A"/>
      </a:accent5>
      <a:accent6>
        <a:srgbClr val="16304D"/>
      </a:accent6>
      <a:hlink>
        <a:srgbClr val="0563C1"/>
      </a:hlink>
      <a:folHlink>
        <a:srgbClr val="954F72"/>
      </a:folHlink>
    </a:clrScheme>
    <a:fontScheme name="The Road to C: From Wires to Words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Road to C: From Wires to Words</dc:title>
  <dc:subject/>
  <dc:creator/>
  <cp:lastModifiedBy/>
  <cp:revision>1</cp:revision>
  <dcterms:created xsi:type="dcterms:W3CDTF">2026-10-17T17:06:25Z</dcterms:created>
  <dcterms:modified xsi:type="dcterms:W3CDTF">2026-10-17T17:06:25Z</dcterms:modified>
</cp:coreProperties>
</file>